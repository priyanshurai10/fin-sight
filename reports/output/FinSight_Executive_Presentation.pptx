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EA5E9"/>
                </a:solidFill>
              </a:defRPr>
            </a:pPr>
            <a:r>
              <a:t>FinSight AI</a:t>
            </a:r>
          </a:p>
          <a:p>
            <a:pPr algn="l">
              <a:defRPr sz="2400" b="1">
                <a:solidFill>
                  <a:srgbClr val="FFFFFF"/>
                </a:solidFill>
              </a:defRPr>
            </a:pPr>
            <a:r>
              <a:t>Enterprise Financial Intelligence &amp; Fraud Analytics Executive Briefing</a:t>
            </a:r>
          </a:p>
          <a:p>
            <a:pPr algn="l">
              <a:defRPr sz="1400">
                <a:solidFill>
                  <a:srgbClr val="94A3B8"/>
                </a:solidFill>
              </a:defRPr>
            </a:pPr>
            <a:r>
              <a:t>Automated Risk Intelligence • Real-Time Machine Learning Scoring • Date: August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Executive KPI Dashboard &amp; Platform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TOTAL TRANSACTION VOLUME</a:t>
            </a:r>
          </a:p>
          <a:p>
            <a:pPr>
              <a:defRPr sz="2400" b="1">
                <a:solidFill>
                  <a:srgbClr val="0EA5E9"/>
                </a:solidFill>
              </a:defRPr>
            </a:pPr>
            <a:r>
              <a:t>$2,019,123.72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90-Day Global Ingested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PROCESSED TRANSACTIONS</a:t>
            </a:r>
          </a:p>
          <a:p>
            <a:pPr>
              <a:defRPr sz="2400" b="1">
                <a:solidFill>
                  <a:srgbClr val="0EA5E9"/>
                </a:solidFill>
              </a:defRPr>
            </a:pPr>
            <a:r>
              <a:t>15,000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Sub-second Pipeline Throughput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DETECTED FRAUD INCIDENTS</a:t>
            </a:r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121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ML Model Precision Detections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11480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SYSTEM FRAUD RATE</a:t>
            </a:r>
          </a:p>
          <a:p>
            <a:pPr>
              <a:defRPr sz="2400" b="1">
                <a:solidFill>
                  <a:srgbClr val="0EA5E9"/>
                </a:solidFill>
              </a:defRPr>
            </a:pPr>
            <a:r>
              <a:t>0.81%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Industry Benchmark Target &lt; 1.0%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33832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TOTAL FRAUD EXPOSURE</a:t>
            </a:r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$98,718.54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Intercepted High-Risk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Fraud Vectors &amp; High-Risk Anomaly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Top High-Risk Merchant Categories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Crypto Exchange &amp; Digital Assets: Highest anomaly density during late-night hours.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Cross-Border Wire Transfers: Large lump-sum velocity spikes across foreign IP ranges.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High-End Luxury Jewelry: Elevated card-not-present (CNP) online entry fraud.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Electronics &amp; Gadgets: Fraudsters testing stolen card batches via automated 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Key Anomaly Triggers &amp; Velocity Spikes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Foreign Jurisdiction Ingress: 85%+ fraud probability when originating from high-risk country codes during off-hours.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1-Hour Velocity Anomaly: &gt;4 transactions per hour triggers automated isolation forest quarantine.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Distance Delta: Transaction locations &gt;250 km from registered customer home base flag suspicious device IDs.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Device Switching: Unrecognized user-agents combined with proxy IP ranges.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Strategic AI Recommendations &amp; Executive Action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1. Dynamic Step-Up Authentication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Enforce 2FA/Biometric challenges on high-value transactions (&gt; $1,000) or high-risk category purchases.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2. Automated Real-Time Isolation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Leverage XGBoost model inference (&lt; 25ms) to auto-reject CRITICAL risk scores (&gt; 75.0) before auth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3. Continuous Model Retraining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Schedule Airflow daily DAGs to retrain supervised models on newly confirmed fraud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4. Executive BI Dashboard Sync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Integrate live FastAPI streaming feeds directly into corporate Power BI &amp; CloudWatch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